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1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42ABF5C-65FF-46DC-CAEB-18DCDFB80F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997735B-7AC2-0B85-E53C-7BD3403C5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717DA79-E890-7EF1-310E-250DC0415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135F7-18BA-4B10-9188-11832607F464}" type="datetimeFigureOut">
              <a:rPr lang="it-IT" smtClean="0"/>
              <a:t>15/02/2026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E9E3DFA-7171-F665-D754-B1AC820AC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6B59761-D2DA-D5BF-8E96-D31AB6074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26C7B-8781-4D38-B4BB-DA593397022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37683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E8BBDCE-4F32-C592-803C-407A09199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96D5877-8779-FAEE-E60F-C8CCDAECA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6CF551B-5A77-8284-10FF-5750197F0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135F7-18BA-4B10-9188-11832607F464}" type="datetimeFigureOut">
              <a:rPr lang="it-IT" smtClean="0"/>
              <a:t>15/02/2026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C98739B-AEFC-CD5B-4E72-F74035B1B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C71A34E-4C55-7C4A-9FF3-A815BDE30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26C7B-8781-4D38-B4BB-DA593397022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06275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4A6E01F-D6C8-44F2-C430-749545317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ABB1E65-7912-2932-675B-B22EED9A5A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409D6AD-21F1-DFDB-FDA6-8A3EDB6EF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135F7-18BA-4B10-9188-11832607F464}" type="datetimeFigureOut">
              <a:rPr lang="it-IT" smtClean="0"/>
              <a:t>15/02/2026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551DACB-2DCB-DB30-54EB-20001C0F5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142FE4D-9780-4CA3-AA20-A70E01E41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26C7B-8781-4D38-B4BB-DA593397022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68961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D645D0C-DFF2-CD29-9FBE-B9A49345E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EB1043C-FA5B-D9F0-B529-205431F19A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2E0B8AC-D486-B2AC-E0F7-AED958F91F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A92849B-49A2-6EFD-514D-14252E36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135F7-18BA-4B10-9188-11832607F464}" type="datetimeFigureOut">
              <a:rPr lang="it-IT" smtClean="0"/>
              <a:t>15/02/2026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E94A1BD-7DFB-1E82-91C3-D06081A3E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9D51B73-BE70-D90D-BB72-7FE7B9A1F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26C7B-8781-4D38-B4BB-DA593397022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4675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1173CB-0656-DA20-7406-439F1CD91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64E269F-F6BE-3171-2A07-899A23D508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93462B1-0A04-9A31-063C-F22A4A1B24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F8675E4-F770-72FE-D7DB-EB2DA7F237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3CE8BEE-D3A7-46C2-0BDF-165D82CCC6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E3AD1898-C6B1-6524-9133-EF50C9386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135F7-18BA-4B10-9188-11832607F464}" type="datetimeFigureOut">
              <a:rPr lang="it-IT" smtClean="0"/>
              <a:t>15/02/2026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12799133-D6CC-B79F-6EEB-5F245B66B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3B8FD5B0-2B5A-1D22-00C5-7ACB1A800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26C7B-8781-4D38-B4BB-DA593397022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2492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E96B318-AF35-7847-37E5-47539CAF8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28447B1-1887-39BD-97D2-D67636CD3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135F7-18BA-4B10-9188-11832607F464}" type="datetimeFigureOut">
              <a:rPr lang="it-IT" smtClean="0"/>
              <a:t>15/02/2026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108C395-0788-ABDA-8C8B-5261A7C2E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76E6C20-2469-7398-4D21-19B4AAD1C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26C7B-8781-4D38-B4BB-DA593397022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4891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ADBB0BF8-8BA7-3477-BBC9-FDDB335FD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135F7-18BA-4B10-9188-11832607F464}" type="datetimeFigureOut">
              <a:rPr lang="it-IT" smtClean="0"/>
              <a:t>15/02/2026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88B4AE5-D7CF-426C-531D-5077905D8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C23A25A-5BF6-22BB-727B-748C51D43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26C7B-8781-4D38-B4BB-DA593397022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38144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4D3278-7BAA-7BB0-A2CA-3AE92791A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80B8F1D-9C44-8278-1171-437534DB2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FF620E9-6A5B-EC87-612C-1221653682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BFB6581-D1E6-38B0-1000-41526E011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135F7-18BA-4B10-9188-11832607F464}" type="datetimeFigureOut">
              <a:rPr lang="it-IT" smtClean="0"/>
              <a:t>15/02/2026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8B256C5-4BC7-78D7-FCE6-A58433303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7852440-B2AB-9CA5-744D-D48AA6D64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26C7B-8781-4D38-B4BB-DA593397022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14490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75838A-603B-3D4B-2BC3-06CA035D9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EDFAEFB7-D58D-95DF-69EF-85B28B2C6B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EF99A96-ADA2-830F-A4D3-58AC33972D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8976B1B-7A10-7A1A-4F16-4099AE6D1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135F7-18BA-4B10-9188-11832607F464}" type="datetimeFigureOut">
              <a:rPr lang="it-IT" smtClean="0"/>
              <a:t>15/02/2026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3A360FF-FFEB-025A-4E8E-84123DF94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B550610-1BE6-EB83-836F-5287B1018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26C7B-8781-4D38-B4BB-DA593397022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26493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EB444DE-F576-FB69-E23A-1EA669866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4EE1896-7DCB-4404-D39E-F4D14CA909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63D727C-6FFA-2C4D-7046-4E1D70C3E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135F7-18BA-4B10-9188-11832607F464}" type="datetimeFigureOut">
              <a:rPr lang="it-IT" smtClean="0"/>
              <a:t>15/02/2026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6F85E55-F605-EBB1-87EB-68654C25A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0275E0F-21CE-A788-0DAC-1C0BBC001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26C7B-8781-4D38-B4BB-DA593397022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68240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38391D76-20E2-80C8-C47F-575181EEAD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5983DAE-6727-BDA6-04D6-BFB1DFA7F0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CB5B604-A067-61BE-58C3-6DA224FC9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135F7-18BA-4B10-9188-11832607F464}" type="datetimeFigureOut">
              <a:rPr lang="it-IT" smtClean="0"/>
              <a:t>15/02/2026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3770B84-64AC-BE9B-13B6-E2B3584F3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BAEC270-109D-79BD-28A0-DC09AE2AF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26C7B-8781-4D38-B4BB-DA593397022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8457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BCCB7E6F-AC54-9C30-C607-4629436AB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5BB309A-21D0-7574-4D21-88C2D82C6F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0D8CAEF-92E6-CB46-E3A8-595C793B50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0135F7-18BA-4B10-9188-11832607F464}" type="datetimeFigureOut">
              <a:rPr lang="it-IT" smtClean="0"/>
              <a:t>15/02/2026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C67F685-14DF-8A6C-8B48-305BBDD797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638B92B-B8D0-3025-434E-0DE841F8BF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726C7B-8781-4D38-B4BB-DA593397022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97867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01521D72-CC71-EBD7-720A-948881B759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10075" y="3699279"/>
            <a:ext cx="7781925" cy="2409825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BC956BE6-F49E-39D8-8305-EA91BDAB0871}"/>
              </a:ext>
            </a:extLst>
          </p:cNvPr>
          <p:cNvSpPr txBox="1"/>
          <p:nvPr/>
        </p:nvSpPr>
        <p:spPr>
          <a:xfrm>
            <a:off x="2956560" y="5806336"/>
            <a:ext cx="92354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err="1"/>
              <a:t>Domotic</a:t>
            </a:r>
            <a:r>
              <a:rPr lang="en-US" sz="4400" dirty="0"/>
              <a:t> Modules for smart home &amp; co</a:t>
            </a:r>
            <a:endParaRPr lang="it-IT" sz="4400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E6D1114C-E3ED-625B-2B14-E58FB15AC1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2611" y="282223"/>
            <a:ext cx="1731818" cy="1731818"/>
          </a:xfrm>
          <a:prstGeom prst="rect">
            <a:avLst/>
          </a:prstGeom>
          <a:effectLst>
            <a:softEdge rad="127000"/>
          </a:effectLst>
        </p:spPr>
      </p:pic>
    </p:spTree>
    <p:extLst>
      <p:ext uri="{BB962C8B-B14F-4D97-AF65-F5344CB8AC3E}">
        <p14:creationId xmlns:p14="http://schemas.microsoft.com/office/powerpoint/2010/main" val="25775267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64"/>
    </mc:Choice>
    <mc:Fallback>
      <p:transition spd="slow" advTm="4064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C9BEEE2-E332-05CD-CF1F-54569D77E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u="sng" dirty="0"/>
              <a:t>The DOMIX Manifesto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8D24740-3128-ED13-EBE2-00B2CE54F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3952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DOMIX was created first and foremost for fun.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Fun, in the original sense: curiosity, experimentation, learning, and the joy of building something that works because you understand it.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DOMIX is not a product. 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It is not a startup. 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It is not a competitor.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It is a research-driven, open, modular automation platform built by interest, not by market pressure.</a:t>
            </a:r>
            <a:endParaRPr lang="it-IT" dirty="0"/>
          </a:p>
        </p:txBody>
      </p:sp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97105A31-716D-44DA-13C2-DB7B91D4DB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65308" y="1"/>
            <a:ext cx="3426691" cy="1061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1846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959"/>
    </mc:Choice>
    <mc:Fallback>
      <p:transition spd="slow" advTm="895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C7CCD7C-0663-FC59-A2E2-2F39AD738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u="sng" dirty="0"/>
              <a:t>The DOMIX Manifesto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FB1CE5F-2AFB-213E-CEC6-85E0DAB1D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it-IT" b="1" dirty="0"/>
              <a:t>1. Open by Design</a:t>
            </a:r>
            <a:endParaRPr lang="it-IT" dirty="0"/>
          </a:p>
          <a:p>
            <a:pPr marL="0" indent="0">
              <a:buNone/>
            </a:pPr>
            <a:r>
              <a:rPr lang="en-US" b="1" dirty="0"/>
              <a:t>2. No Competition with Industrial Systems</a:t>
            </a:r>
            <a:endParaRPr lang="en-US" dirty="0"/>
          </a:p>
          <a:p>
            <a:pPr marL="0" indent="0">
              <a:buNone/>
            </a:pPr>
            <a:r>
              <a:rPr lang="it-IT" b="1" dirty="0"/>
              <a:t>3. </a:t>
            </a:r>
            <a:r>
              <a:rPr lang="it-IT" b="1" dirty="0" err="1"/>
              <a:t>Research</a:t>
            </a:r>
            <a:r>
              <a:rPr lang="it-IT" b="1" dirty="0"/>
              <a:t>, Not </a:t>
            </a:r>
            <a:r>
              <a:rPr lang="it-IT" b="1" dirty="0" err="1"/>
              <a:t>Certification</a:t>
            </a:r>
            <a:endParaRPr lang="it-IT" dirty="0"/>
          </a:p>
          <a:p>
            <a:pPr marL="0" indent="0">
              <a:buNone/>
            </a:pPr>
            <a:r>
              <a:rPr lang="it-IT" b="1" dirty="0"/>
              <a:t>4. Modular or </a:t>
            </a:r>
            <a:r>
              <a:rPr lang="it-IT" b="1" dirty="0" err="1"/>
              <a:t>Nothing</a:t>
            </a:r>
            <a:endParaRPr lang="it-IT" dirty="0"/>
          </a:p>
          <a:p>
            <a:pPr marL="0" indent="0">
              <a:buNone/>
            </a:pPr>
            <a:r>
              <a:rPr lang="it-IT" b="1" dirty="0"/>
              <a:t>5. Cabinet-</a:t>
            </a:r>
            <a:r>
              <a:rPr lang="it-IT" b="1" dirty="0" err="1"/>
              <a:t>Oriented</a:t>
            </a:r>
            <a:r>
              <a:rPr lang="it-IT" b="1" dirty="0"/>
              <a:t>, Low-Voltage </a:t>
            </a:r>
            <a:r>
              <a:rPr lang="it-IT" b="1" dirty="0" err="1"/>
              <a:t>Only</a:t>
            </a:r>
            <a:endParaRPr lang="it-IT" dirty="0"/>
          </a:p>
          <a:p>
            <a:pPr marL="0" indent="0">
              <a:buNone/>
            </a:pPr>
            <a:r>
              <a:rPr lang="it-IT" b="1" dirty="0"/>
              <a:t>6. Ethernet First, Always</a:t>
            </a:r>
            <a:endParaRPr lang="it-IT" dirty="0"/>
          </a:p>
          <a:p>
            <a:pPr marL="0" indent="0">
              <a:buNone/>
            </a:pPr>
            <a:r>
              <a:rPr lang="it-IT" b="1" dirty="0"/>
              <a:t>7. Open </a:t>
            </a:r>
            <a:r>
              <a:rPr lang="it-IT" b="1" dirty="0" err="1"/>
              <a:t>Ecosystem</a:t>
            </a:r>
            <a:r>
              <a:rPr lang="it-IT" b="1" dirty="0"/>
              <a:t> Integration</a:t>
            </a:r>
            <a:endParaRPr lang="it-IT" dirty="0"/>
          </a:p>
          <a:p>
            <a:pPr marL="0" indent="0">
              <a:buNone/>
            </a:pPr>
            <a:r>
              <a:rPr lang="en-US" b="1" dirty="0"/>
              <a:t>8. Zigbee as a First-Class Citizen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9. Fully Customizable by Design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10. Built for People Who Want to Understand</a:t>
            </a:r>
            <a:endParaRPr lang="en-US" dirty="0"/>
          </a:p>
        </p:txBody>
      </p:sp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522C0A2B-BEC6-4D0D-F534-D6CFDB2948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65308" y="1"/>
            <a:ext cx="3426691" cy="1061142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146409B7-9152-1D81-1EF4-E5E3A176A1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2629" y="2055812"/>
            <a:ext cx="6959370" cy="3365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0736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835"/>
    </mc:Choice>
    <mc:Fallback>
      <p:transition spd="slow" advTm="9835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1F8BB-B950-0C31-4EC1-FC66FAEFB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5C2872F-9A1A-CBF9-073A-1D7AD9E63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Modular System Overview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2AD5E2A-8511-1963-B1D0-630E0988B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DOMIX is a </a:t>
            </a:r>
            <a:r>
              <a:rPr lang="en-US" b="1" dirty="0"/>
              <a:t>DIN-rail modular automation system </a:t>
            </a:r>
            <a:r>
              <a:rPr lang="en-US" dirty="0"/>
              <a:t>designed around a centralized core controller and a set of specialized functional modules.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At the heart of the system is the </a:t>
            </a:r>
            <a:r>
              <a:rPr lang="en-US" b="1" dirty="0"/>
              <a:t>DOMIX M1 Core Module</a:t>
            </a:r>
            <a:r>
              <a:rPr lang="en-US" dirty="0"/>
              <a:t>, which manages logic, communication, and coordination.  </a:t>
            </a:r>
          </a:p>
          <a:p>
            <a:pPr marL="0" indent="0">
              <a:buNone/>
            </a:pPr>
            <a:r>
              <a:rPr lang="en-US" dirty="0"/>
              <a:t>All other modules are connected to M1 through a </a:t>
            </a:r>
            <a:r>
              <a:rPr lang="en-US" b="1" dirty="0"/>
              <a:t>multi-drop I²C expansion bus</a:t>
            </a:r>
            <a:r>
              <a:rPr lang="en-US" dirty="0"/>
              <a:t>, forming a scalable and deterministic automation backbone.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Each module is designed to occupy a defined number of standard DIN units, allowing clean electrical cabinets and predictable layouts.</a:t>
            </a:r>
          </a:p>
        </p:txBody>
      </p:sp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EEF525F4-FF6B-93D1-3876-23D1BDB3B2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65308" y="1"/>
            <a:ext cx="3426691" cy="1061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4419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258"/>
    </mc:Choice>
    <mc:Fallback>
      <p:transition spd="slow" advTm="12258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4199B-36AB-938E-575A-30235F9DE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9C0C3B-E368-AB2E-F107-3584DB7D6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Core Communication Concept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220D5D4-1552-ABF0-CA34-616F1C1A4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-  M1 acts as the I²C Master</a:t>
            </a:r>
          </a:p>
          <a:p>
            <a:pPr>
              <a:buFontTx/>
              <a:buChar char="-"/>
            </a:pPr>
            <a:r>
              <a:rPr lang="en-US" dirty="0"/>
              <a:t>All other modules act as </a:t>
            </a:r>
            <a:r>
              <a:rPr lang="en-US" b="1" dirty="0"/>
              <a:t>I²C Slaves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Each module has:</a:t>
            </a:r>
          </a:p>
          <a:p>
            <a:pPr marL="0" indent="0">
              <a:buNone/>
            </a:pPr>
            <a:r>
              <a:rPr lang="en-US" dirty="0"/>
              <a:t>  - A unique I²C address</a:t>
            </a:r>
          </a:p>
          <a:p>
            <a:pPr marL="0" indent="0">
              <a:buNone/>
            </a:pPr>
            <a:r>
              <a:rPr lang="en-US" dirty="0"/>
              <a:t>  - Its own local intelligence (I/O handling, </a:t>
            </a:r>
          </a:p>
          <a:p>
            <a:pPr marL="0" indent="0">
              <a:buNone/>
            </a:pPr>
            <a:r>
              <a:rPr lang="en-US" dirty="0"/>
              <a:t>protection, signal conditioning)</a:t>
            </a:r>
          </a:p>
          <a:p>
            <a:pPr marL="0" indent="0">
              <a:buNone/>
            </a:pPr>
            <a:r>
              <a:rPr lang="en-US" u="sng" dirty="0"/>
              <a:t>The bus is optimized for:</a:t>
            </a:r>
          </a:p>
          <a:p>
            <a:pPr marL="0" indent="0">
              <a:buNone/>
            </a:pPr>
            <a:r>
              <a:rPr lang="en-US" dirty="0"/>
              <a:t>  - Short to medium distances inside electrical cabinets</a:t>
            </a:r>
          </a:p>
          <a:p>
            <a:pPr marL="0" indent="0">
              <a:buNone/>
            </a:pPr>
            <a:r>
              <a:rPr lang="en-US" dirty="0"/>
              <a:t>  - High reliability</a:t>
            </a:r>
          </a:p>
          <a:p>
            <a:pPr marL="0" indent="0">
              <a:buNone/>
            </a:pPr>
            <a:r>
              <a:rPr lang="en-US" dirty="0"/>
              <a:t>  - Low complexity</a:t>
            </a:r>
          </a:p>
        </p:txBody>
      </p:sp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8A0AC4AC-6BBF-DD83-E908-B2BAA69298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65308" y="1"/>
            <a:ext cx="3426691" cy="1061142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BB70B70C-BCEB-72F8-6994-575ADAF1BE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027906"/>
            <a:ext cx="5945729" cy="4873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6524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227"/>
    </mc:Choice>
    <mc:Fallback>
      <p:transition spd="slow" advTm="10227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FDFC3-004C-D420-9C53-02789B2B6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7DAB856-CA97-B0A0-34A2-13B30030E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I2C address as first decision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219E571-6920-AA67-0053-2F3A73DAB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6376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I2C Address must be decided before trying to add modules!</a:t>
            </a:r>
          </a:p>
          <a:p>
            <a:pPr marL="0" indent="0">
              <a:buNone/>
            </a:pPr>
            <a:r>
              <a:rPr lang="en-GB" dirty="0"/>
              <a:t>A configuration is valid on a single I2C bus if all the following conditions are met:</a:t>
            </a:r>
            <a:endParaRPr lang="it-IT" dirty="0"/>
          </a:p>
          <a:p>
            <a:pPr lvl="0"/>
            <a:r>
              <a:rPr lang="en-GB" dirty="0"/>
              <a:t>(M2 + M5 + M7 + M8 + M9)	 ≤ 8</a:t>
            </a:r>
            <a:endParaRPr lang="it-IT" dirty="0"/>
          </a:p>
          <a:p>
            <a:pPr lvl="0"/>
            <a:r>
              <a:rPr lang="en-GB" dirty="0"/>
              <a:t>(M3 + M4 + M6 + M9)		 ≤ 8</a:t>
            </a:r>
            <a:endParaRPr lang="it-IT" dirty="0"/>
          </a:p>
          <a:p>
            <a:pPr lvl="0"/>
            <a:r>
              <a:rPr lang="en-GB" dirty="0"/>
              <a:t>(M3 + M6)				 ≤ 4 (ADS1115 limit)</a:t>
            </a:r>
            <a:endParaRPr lang="it-IT" dirty="0"/>
          </a:p>
        </p:txBody>
      </p:sp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63482BCE-8B9E-95A1-FEFC-E6ECD79B2B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65308" y="1"/>
            <a:ext cx="3426691" cy="1061142"/>
          </a:xfrm>
          <a:prstGeom prst="rect">
            <a:avLst/>
          </a:prstGeom>
        </p:spPr>
      </p:pic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32472EE2-BB87-B83F-4D4D-38B4910F9B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0759467"/>
              </p:ext>
            </p:extLst>
          </p:nvPr>
        </p:nvGraphicFramePr>
        <p:xfrm>
          <a:off x="6699504" y="1924463"/>
          <a:ext cx="4803648" cy="275863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91184">
                  <a:extLst>
                    <a:ext uri="{9D8B030D-6E8A-4147-A177-3AD203B41FA5}">
                      <a16:colId xmlns:a16="http://schemas.microsoft.com/office/drawing/2014/main" val="2542561885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3514526631"/>
                    </a:ext>
                  </a:extLst>
                </a:gridCol>
                <a:gridCol w="1197864">
                  <a:extLst>
                    <a:ext uri="{9D8B030D-6E8A-4147-A177-3AD203B41FA5}">
                      <a16:colId xmlns:a16="http://schemas.microsoft.com/office/drawing/2014/main" val="357165843"/>
                    </a:ext>
                  </a:extLst>
                </a:gridCol>
                <a:gridCol w="1252728">
                  <a:extLst>
                    <a:ext uri="{9D8B030D-6E8A-4147-A177-3AD203B41FA5}">
                      <a16:colId xmlns:a16="http://schemas.microsoft.com/office/drawing/2014/main" val="29062798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  <a:tabLst>
                          <a:tab pos="4171950" algn="l"/>
                        </a:tabLst>
                      </a:pPr>
                      <a:r>
                        <a:rPr lang="en-US" sz="1800" dirty="0">
                          <a:effectLst/>
                        </a:rPr>
                        <a:t>Module</a:t>
                      </a:r>
                      <a:endParaRPr lang="it-IT" sz="1800" dirty="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  <a:tabLst>
                          <a:tab pos="4171950" algn="l"/>
                        </a:tabLst>
                      </a:pPr>
                      <a:r>
                        <a:rPr lang="en-US" sz="1800">
                          <a:effectLst/>
                        </a:rPr>
                        <a:t>0x20–0x27</a:t>
                      </a:r>
                      <a:endParaRPr lang="it-IT" sz="180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  <a:tabLst>
                          <a:tab pos="4171950" algn="l"/>
                        </a:tabLst>
                      </a:pPr>
                      <a:r>
                        <a:rPr lang="en-US" sz="1800">
                          <a:effectLst/>
                        </a:rPr>
                        <a:t>0x38–0x3F</a:t>
                      </a:r>
                      <a:endParaRPr lang="it-IT" sz="180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  <a:tabLst>
                          <a:tab pos="4171950" algn="l"/>
                        </a:tabLst>
                      </a:pPr>
                      <a:r>
                        <a:rPr lang="en-US" sz="1800">
                          <a:effectLst/>
                        </a:rPr>
                        <a:t>ADS1115</a:t>
                      </a:r>
                      <a:endParaRPr lang="it-IT" sz="180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559146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  <a:tabLst>
                          <a:tab pos="4171950" algn="l"/>
                        </a:tabLst>
                      </a:pPr>
                      <a:r>
                        <a:rPr lang="en-US" sz="1800">
                          <a:effectLst/>
                        </a:rPr>
                        <a:t>M2</a:t>
                      </a:r>
                      <a:endParaRPr lang="it-IT" sz="180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  <a:tabLst>
                          <a:tab pos="4171950" algn="l"/>
                        </a:tabLs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it-IT" sz="180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  <a:tabLst>
                          <a:tab pos="4171950" algn="l"/>
                        </a:tabLs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it-IT" sz="180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  <a:tabLst>
                          <a:tab pos="4171950" algn="l"/>
                        </a:tabLs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it-IT" sz="180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2373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  <a:tabLst>
                          <a:tab pos="4171950" algn="l"/>
                        </a:tabLst>
                      </a:pPr>
                      <a:r>
                        <a:rPr lang="en-US" sz="1800">
                          <a:effectLst/>
                        </a:rPr>
                        <a:t>M5</a:t>
                      </a:r>
                      <a:endParaRPr lang="it-IT" sz="180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  <a:tabLst>
                          <a:tab pos="4171950" algn="l"/>
                        </a:tabLs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it-IT" sz="180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  <a:tabLst>
                          <a:tab pos="4171950" algn="l"/>
                        </a:tabLs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it-IT" sz="180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  <a:tabLst>
                          <a:tab pos="4171950" algn="l"/>
                        </a:tabLs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it-IT" sz="180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761432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  <a:tabLst>
                          <a:tab pos="4171950" algn="l"/>
                        </a:tabLst>
                      </a:pPr>
                      <a:r>
                        <a:rPr lang="en-US" sz="1800">
                          <a:effectLst/>
                        </a:rPr>
                        <a:t>M7</a:t>
                      </a:r>
                      <a:endParaRPr lang="it-IT" sz="180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  <a:tabLst>
                          <a:tab pos="4171950" algn="l"/>
                        </a:tabLs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it-IT" sz="180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  <a:tabLst>
                          <a:tab pos="4171950" algn="l"/>
                        </a:tabLs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it-IT" sz="180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  <a:tabLst>
                          <a:tab pos="4171950" algn="l"/>
                        </a:tabLs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it-IT" sz="180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5431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  <a:tabLst>
                          <a:tab pos="4171950" algn="l"/>
                        </a:tabLst>
                      </a:pPr>
                      <a:r>
                        <a:rPr lang="en-US" sz="1800" dirty="0">
                          <a:effectLst/>
                        </a:rPr>
                        <a:t>M8</a:t>
                      </a:r>
                      <a:endParaRPr lang="it-IT" sz="1800" dirty="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  <a:tabLst>
                          <a:tab pos="4171950" algn="l"/>
                        </a:tabLs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it-IT" sz="180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  <a:tabLst>
                          <a:tab pos="4171950" algn="l"/>
                        </a:tabLs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it-IT" sz="180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  <a:tabLst>
                          <a:tab pos="4171950" algn="l"/>
                        </a:tabLs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it-IT" sz="180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062466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  <a:tabLst>
                          <a:tab pos="4171950" algn="l"/>
                        </a:tabLst>
                      </a:pPr>
                      <a:r>
                        <a:rPr lang="en-US" sz="1800">
                          <a:effectLst/>
                        </a:rPr>
                        <a:t>M3</a:t>
                      </a:r>
                      <a:endParaRPr lang="it-IT" sz="180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  <a:tabLst>
                          <a:tab pos="4171950" algn="l"/>
                        </a:tabLs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it-IT" sz="180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  <a:tabLst>
                          <a:tab pos="4171950" algn="l"/>
                        </a:tabLs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it-IT" sz="180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  <a:tabLst>
                          <a:tab pos="4171950" algn="l"/>
                        </a:tabLs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it-IT" sz="180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161741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  <a:tabLst>
                          <a:tab pos="4171950" algn="l"/>
                        </a:tabLst>
                      </a:pPr>
                      <a:r>
                        <a:rPr lang="en-US" sz="1800">
                          <a:effectLst/>
                        </a:rPr>
                        <a:t>M4</a:t>
                      </a:r>
                      <a:endParaRPr lang="it-IT" sz="180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  <a:tabLst>
                          <a:tab pos="4171950" algn="l"/>
                        </a:tabLs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it-IT" sz="180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  <a:tabLst>
                          <a:tab pos="4171950" algn="l"/>
                        </a:tabLs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it-IT" sz="180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  <a:tabLst>
                          <a:tab pos="4171950" algn="l"/>
                        </a:tabLs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it-IT" sz="180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4670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  <a:tabLst>
                          <a:tab pos="4171950" algn="l"/>
                        </a:tabLst>
                      </a:pPr>
                      <a:r>
                        <a:rPr lang="en-US" sz="1800">
                          <a:effectLst/>
                        </a:rPr>
                        <a:t>M6</a:t>
                      </a:r>
                      <a:endParaRPr lang="it-IT" sz="180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  <a:tabLst>
                          <a:tab pos="4171950" algn="l"/>
                        </a:tabLs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it-IT" sz="180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  <a:tabLst>
                          <a:tab pos="4171950" algn="l"/>
                        </a:tabLs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it-IT" sz="180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  <a:tabLst>
                          <a:tab pos="4171950" algn="l"/>
                        </a:tabLs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it-IT" sz="180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65393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  <a:tabLst>
                          <a:tab pos="4171950" algn="l"/>
                        </a:tabLst>
                      </a:pPr>
                      <a:r>
                        <a:rPr lang="en-US" sz="1800">
                          <a:effectLst/>
                        </a:rPr>
                        <a:t>M9</a:t>
                      </a:r>
                      <a:endParaRPr lang="it-IT" sz="180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  <a:tabLst>
                          <a:tab pos="4171950" algn="l"/>
                        </a:tabLs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it-IT" sz="180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  <a:tabLst>
                          <a:tab pos="4171950" algn="l"/>
                        </a:tabLs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it-IT" sz="180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  <a:tabLst>
                          <a:tab pos="4171950" algn="l"/>
                        </a:tabLst>
                      </a:pPr>
                      <a:r>
                        <a:rPr lang="en-US" sz="1800" dirty="0">
                          <a:effectLst/>
                        </a:rPr>
                        <a:t>0</a:t>
                      </a:r>
                      <a:endParaRPr lang="it-IT" sz="1800" dirty="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674009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49254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865"/>
    </mc:Choice>
    <mc:Fallback>
      <p:transition spd="slow" advTm="11865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DEC1E-B5CE-8ADD-8765-C4943783D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B96127E-68F6-21C4-21BE-471FC9222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u="sng" dirty="0"/>
              <a:t>DIN </a:t>
            </a:r>
            <a:r>
              <a:rPr lang="it-IT" b="1" u="sng" dirty="0" err="1"/>
              <a:t>Rail</a:t>
            </a:r>
            <a:r>
              <a:rPr lang="it-IT" b="1" u="sng" dirty="0"/>
              <a:t> Form </a:t>
            </a:r>
            <a:r>
              <a:rPr lang="it-IT" b="1" u="sng" dirty="0" err="1"/>
              <a:t>Factor</a:t>
            </a:r>
            <a:r>
              <a:rPr lang="it-IT" b="1" u="sng" dirty="0"/>
              <a:t> Strategy</a:t>
            </a:r>
            <a:endParaRPr lang="it-IT" u="sng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FF021D8-3E97-898C-6BAC-53AD39AF5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approach</a:t>
            </a:r>
            <a:r>
              <a:rPr lang="it-IT" dirty="0"/>
              <a:t> </a:t>
            </a:r>
            <a:r>
              <a:rPr lang="it-IT" dirty="0" err="1"/>
              <a:t>ensures</a:t>
            </a:r>
            <a:r>
              <a:rPr lang="it-IT" dirty="0"/>
              <a:t>:</a:t>
            </a:r>
          </a:p>
          <a:p>
            <a:pPr marL="0" indent="0">
              <a:buNone/>
            </a:pPr>
            <a:r>
              <a:rPr lang="it-IT" dirty="0"/>
              <a:t>- </a:t>
            </a:r>
            <a:r>
              <a:rPr lang="it-IT" dirty="0" err="1"/>
              <a:t>Mechanical</a:t>
            </a:r>
            <a:r>
              <a:rPr lang="it-IT" dirty="0"/>
              <a:t> </a:t>
            </a:r>
            <a:r>
              <a:rPr lang="it-IT" dirty="0" err="1"/>
              <a:t>consistency</a:t>
            </a:r>
            <a:endParaRPr lang="it-IT" dirty="0"/>
          </a:p>
          <a:p>
            <a:pPr marL="0" indent="0">
              <a:buNone/>
            </a:pPr>
            <a:r>
              <a:rPr lang="it-IT" dirty="0"/>
              <a:t>- Easy cabinet planning</a:t>
            </a:r>
          </a:p>
          <a:p>
            <a:pPr>
              <a:buFontTx/>
              <a:buChar char="-"/>
            </a:pPr>
            <a:r>
              <a:rPr lang="it-IT" dirty="0"/>
              <a:t>Clear </a:t>
            </a:r>
            <a:r>
              <a:rPr lang="it-IT" dirty="0" err="1"/>
              <a:t>separation</a:t>
            </a:r>
            <a:r>
              <a:rPr lang="it-IT" dirty="0"/>
              <a:t> of </a:t>
            </a:r>
            <a:r>
              <a:rPr lang="it-IT" dirty="0" err="1"/>
              <a:t>logic</a:t>
            </a:r>
            <a:r>
              <a:rPr lang="it-IT" dirty="0"/>
              <a:t>,</a:t>
            </a:r>
          </a:p>
          <a:p>
            <a:pPr marL="0" indent="0">
              <a:buNone/>
            </a:pPr>
            <a:r>
              <a:rPr lang="it-IT" dirty="0"/>
              <a:t>   sensing, and </a:t>
            </a:r>
            <a:r>
              <a:rPr lang="it-IT" dirty="0" err="1"/>
              <a:t>actuation</a:t>
            </a:r>
            <a:endParaRPr lang="it-IT" dirty="0"/>
          </a:p>
        </p:txBody>
      </p:sp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FF0E84AE-9687-4EC7-A5CB-8A365C21A8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65308" y="1"/>
            <a:ext cx="3426691" cy="1061142"/>
          </a:xfrm>
          <a:prstGeom prst="rect">
            <a:avLst/>
          </a:prstGeom>
        </p:spPr>
      </p:pic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2C6E68CD-1D4A-CCD1-9C27-8A3E74CDA1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125784"/>
              </p:ext>
            </p:extLst>
          </p:nvPr>
        </p:nvGraphicFramePr>
        <p:xfrm>
          <a:off x="5630799" y="1825625"/>
          <a:ext cx="5927219" cy="30651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88089">
                  <a:extLst>
                    <a:ext uri="{9D8B030D-6E8A-4147-A177-3AD203B41FA5}">
                      <a16:colId xmlns:a16="http://schemas.microsoft.com/office/drawing/2014/main" val="3192222449"/>
                    </a:ext>
                  </a:extLst>
                </a:gridCol>
                <a:gridCol w="3433866">
                  <a:extLst>
                    <a:ext uri="{9D8B030D-6E8A-4147-A177-3AD203B41FA5}">
                      <a16:colId xmlns:a16="http://schemas.microsoft.com/office/drawing/2014/main" val="2486574675"/>
                    </a:ext>
                  </a:extLst>
                </a:gridCol>
                <a:gridCol w="1405264">
                  <a:extLst>
                    <a:ext uri="{9D8B030D-6E8A-4147-A177-3AD203B41FA5}">
                      <a16:colId xmlns:a16="http://schemas.microsoft.com/office/drawing/2014/main" val="3801767405"/>
                    </a:ext>
                  </a:extLst>
                </a:gridCol>
              </a:tblGrid>
              <a:tr h="109855"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Module</a:t>
                      </a:r>
                      <a:endParaRPr lang="it-IT" sz="1800" dirty="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Function</a:t>
                      </a:r>
                      <a:endParaRPr lang="it-IT" sz="180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DIN Width</a:t>
                      </a:r>
                      <a:endParaRPr lang="it-IT" sz="180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050628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M1</a:t>
                      </a:r>
                      <a:endParaRPr lang="it-IT" sz="1800" dirty="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Core / Gateway</a:t>
                      </a:r>
                      <a:endParaRPr lang="it-IT" sz="180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4 modules</a:t>
                      </a:r>
                      <a:endParaRPr lang="it-IT" sz="180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353567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M2</a:t>
                      </a:r>
                      <a:endParaRPr lang="it-IT" sz="180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Digital I/O</a:t>
                      </a:r>
                      <a:endParaRPr lang="it-IT" sz="180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2 modules</a:t>
                      </a:r>
                      <a:endParaRPr lang="it-IT" sz="180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801422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M3</a:t>
                      </a:r>
                      <a:endParaRPr lang="it-IT" sz="180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Door &amp; Window Contacts</a:t>
                      </a:r>
                      <a:endParaRPr lang="it-IT" sz="180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2 modules</a:t>
                      </a:r>
                      <a:endParaRPr lang="it-IT" sz="180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759048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M4</a:t>
                      </a:r>
                      <a:endParaRPr lang="it-IT" sz="180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6-Relay / Shutter </a:t>
                      </a:r>
                      <a:endParaRPr lang="it-IT" sz="180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2 modules</a:t>
                      </a:r>
                      <a:endParaRPr lang="it-IT" sz="180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07456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M5</a:t>
                      </a:r>
                      <a:endParaRPr lang="it-IT" sz="180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12-Relay / Shutter </a:t>
                      </a:r>
                      <a:endParaRPr lang="it-IT" sz="180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4 modules</a:t>
                      </a:r>
                      <a:endParaRPr lang="it-IT" sz="180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7207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M6</a:t>
                      </a:r>
                      <a:endParaRPr lang="it-IT" sz="180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Energy Meter (Clamp Meter)</a:t>
                      </a:r>
                      <a:endParaRPr lang="it-IT" sz="180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4 modules</a:t>
                      </a:r>
                      <a:endParaRPr lang="it-IT" sz="180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0351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M7</a:t>
                      </a:r>
                      <a:endParaRPr lang="it-IT" sz="180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Digital Output</a:t>
                      </a:r>
                      <a:endParaRPr lang="it-IT" sz="180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2 modules</a:t>
                      </a:r>
                      <a:endParaRPr lang="it-IT" sz="180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96767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M8</a:t>
                      </a:r>
                      <a:endParaRPr lang="it-IT" sz="180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Digital Input</a:t>
                      </a:r>
                      <a:endParaRPr lang="it-IT" sz="180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2 modules</a:t>
                      </a:r>
                      <a:endParaRPr lang="it-IT" sz="180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7875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M9</a:t>
                      </a:r>
                      <a:endParaRPr lang="it-IT" sz="180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Sprinkler </a:t>
                      </a:r>
                      <a:endParaRPr lang="it-IT" sz="1800" dirty="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4 modules</a:t>
                      </a:r>
                      <a:endParaRPr lang="it-IT" sz="1800" dirty="0">
                        <a:solidFill>
                          <a:srgbClr val="404040"/>
                        </a:solidFill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8951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0473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371"/>
    </mc:Choice>
    <mc:Fallback>
      <p:transition spd="slow" advTm="837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A5854-D5DA-99A5-6DD6-18A702F7B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207865-5F79-05F1-80F6-CFC2BD31E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u="sng" dirty="0"/>
              <a:t>M1 – Core Module (4 DIN Units)</a:t>
            </a:r>
            <a:endParaRPr lang="it-IT" u="sng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499D898-AC67-26B3-1542-D7B82F6DF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/>
              <a:t>M1 Core Module </a:t>
            </a:r>
            <a:r>
              <a:rPr lang="en-US" dirty="0"/>
              <a:t>is the brain of the DOMIX system.</a:t>
            </a:r>
          </a:p>
          <a:p>
            <a:pPr marL="0" indent="0">
              <a:buNone/>
            </a:pPr>
            <a:r>
              <a:rPr lang="en-US" b="1" dirty="0"/>
              <a:t>Main responsibilities: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- System logic and automation rules</a:t>
            </a:r>
          </a:p>
          <a:p>
            <a:pPr marL="0" indent="0">
              <a:buNone/>
            </a:pPr>
            <a:r>
              <a:rPr lang="en-US" dirty="0"/>
              <a:t>- Communication gateway</a:t>
            </a:r>
          </a:p>
          <a:p>
            <a:pPr marL="0" indent="0">
              <a:buNone/>
            </a:pPr>
            <a:r>
              <a:rPr lang="en-US" dirty="0"/>
              <a:t>- I²C master controller</a:t>
            </a:r>
          </a:p>
          <a:p>
            <a:pPr marL="0" indent="0">
              <a:buNone/>
            </a:pPr>
            <a:r>
              <a:rPr lang="en-US" dirty="0"/>
              <a:t>- Network and protocol translation</a:t>
            </a:r>
          </a:p>
          <a:p>
            <a:pPr marL="0" indent="0">
              <a:buNone/>
            </a:pPr>
            <a:r>
              <a:rPr lang="en-US" b="1" dirty="0"/>
              <a:t>Key interfaces: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- Ethernet (W5500)</a:t>
            </a:r>
          </a:p>
          <a:p>
            <a:pPr marL="0" indent="0">
              <a:buNone/>
            </a:pPr>
            <a:r>
              <a:rPr lang="en-US" dirty="0"/>
              <a:t>- Zigbee (CC2652-based module)</a:t>
            </a:r>
          </a:p>
          <a:p>
            <a:pPr marL="0" indent="0">
              <a:buNone/>
            </a:pPr>
            <a:r>
              <a:rPr lang="en-US" dirty="0"/>
              <a:t>- RS485 (industrial fieldbus)</a:t>
            </a:r>
          </a:p>
          <a:p>
            <a:pPr marL="0" indent="0">
              <a:buNone/>
            </a:pPr>
            <a:r>
              <a:rPr lang="en-US" dirty="0"/>
              <a:t>- I²C expansion bus</a:t>
            </a:r>
          </a:p>
          <a:p>
            <a:pPr marL="0" indent="0">
              <a:buNone/>
            </a:pPr>
            <a:r>
              <a:rPr lang="en-US" dirty="0"/>
              <a:t>- Local display and buttons</a:t>
            </a:r>
          </a:p>
          <a:p>
            <a:pPr marL="0" indent="0">
              <a:buNone/>
            </a:pPr>
            <a:r>
              <a:rPr lang="en-US" dirty="0"/>
              <a:t>M1 orchestrates all other modules and exposes the entire system to external platforms such as home automation servers or custom applications.</a:t>
            </a:r>
          </a:p>
        </p:txBody>
      </p:sp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5B2BB6CE-F96F-2656-BAD9-6C86044F6A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65308" y="1"/>
            <a:ext cx="3426691" cy="1061142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7A79845E-D48B-A8E4-21EB-86DE780E22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426267"/>
            <a:ext cx="4773237" cy="4248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2387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378"/>
    </mc:Choice>
    <mc:Fallback>
      <p:transition spd="slow" advTm="14378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91194-1A2A-73BF-F2D8-F4B991476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98EC44A-AF96-AE01-7CA9-597110726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u="sng" dirty="0"/>
              <a:t>M2 – I/O Module (2 DIN Units)</a:t>
            </a:r>
            <a:endParaRPr lang="it-IT" u="sng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6CC79DD-DF9F-D118-189D-60E9727BAA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/>
              <a:t>M2 module</a:t>
            </a:r>
            <a:r>
              <a:rPr lang="en-US" dirty="0"/>
              <a:t> provides generic input and output capabilities.</a:t>
            </a:r>
          </a:p>
          <a:p>
            <a:pPr marL="0" indent="0">
              <a:buNone/>
            </a:pPr>
            <a:r>
              <a:rPr lang="en-US" b="1" dirty="0"/>
              <a:t>Typical features:</a:t>
            </a:r>
          </a:p>
          <a:p>
            <a:pPr marL="0" indent="0">
              <a:buNone/>
            </a:pPr>
            <a:r>
              <a:rPr lang="en-US" dirty="0"/>
              <a:t>- 8 Digital inputs (dry contact)</a:t>
            </a:r>
          </a:p>
          <a:p>
            <a:pPr marL="0" indent="0">
              <a:buNone/>
            </a:pPr>
            <a:r>
              <a:rPr lang="en-US" dirty="0"/>
              <a:t>- 8 Digital outputs (low-power control)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Used for:</a:t>
            </a:r>
          </a:p>
          <a:p>
            <a:pPr marL="0" indent="0">
              <a:buNone/>
            </a:pPr>
            <a:r>
              <a:rPr lang="en-US" dirty="0"/>
              <a:t>- Switch or similar</a:t>
            </a:r>
          </a:p>
          <a:p>
            <a:pPr marL="0" indent="0">
              <a:buNone/>
            </a:pPr>
            <a:r>
              <a:rPr lang="en-US" dirty="0"/>
              <a:t>- Auxiliary controls</a:t>
            </a:r>
          </a:p>
          <a:p>
            <a:pPr>
              <a:buFontTx/>
              <a:buChar char="-"/>
            </a:pPr>
            <a:r>
              <a:rPr lang="en-US" dirty="0"/>
              <a:t>Generic automation tasks</a:t>
            </a:r>
          </a:p>
          <a:p>
            <a:pPr>
              <a:buFontTx/>
              <a:buChar char="-"/>
            </a:pPr>
            <a:r>
              <a:rPr lang="en-US" dirty="0"/>
              <a:t>Connections to power relay or contactors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I2C addressable by dip switch on left side for each module</a:t>
            </a:r>
          </a:p>
        </p:txBody>
      </p:sp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506F642B-A6EB-3F50-DD68-A5C9427D0E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65308" y="1"/>
            <a:ext cx="3426691" cy="1061142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15A0CB54-FC55-C43C-BC92-4280E674F3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4536" y="1436575"/>
            <a:ext cx="5107531" cy="536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7614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282"/>
    </mc:Choice>
    <mc:Fallback>
      <p:transition spd="slow" advTm="10282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184F9-1237-D59E-F417-4CED3B0F2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86CEAC3-DEEE-519F-2C23-BD5B972CD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M3 – Contact Module (2 DIN Units)</a:t>
            </a:r>
            <a:endParaRPr lang="en-US" u="sng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967BC93-E647-C4B6-BB04-6D773500C0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/>
              <a:t>M3 module</a:t>
            </a:r>
            <a:r>
              <a:rPr lang="en-US" dirty="0"/>
              <a:t> is optimized for </a:t>
            </a:r>
            <a:r>
              <a:rPr lang="en-US" b="1" dirty="0"/>
              <a:t>door, window, and dry-contact monitoring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Characteristics: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- 16 Isolated analog inputs</a:t>
            </a:r>
          </a:p>
          <a:p>
            <a:pPr marL="0" indent="0">
              <a:buNone/>
            </a:pPr>
            <a:r>
              <a:rPr lang="en-US" dirty="0"/>
              <a:t>- Long cable compatibility</a:t>
            </a:r>
          </a:p>
          <a:p>
            <a:pPr marL="0" indent="0">
              <a:buNone/>
            </a:pPr>
            <a:r>
              <a:rPr lang="en-US" dirty="0"/>
              <a:t>- Debounce and noise filtering</a:t>
            </a:r>
          </a:p>
          <a:p>
            <a:pPr marL="0" indent="0">
              <a:buNone/>
            </a:pPr>
            <a:r>
              <a:rPr lang="en-US" dirty="0"/>
              <a:t>- Ideal for security and presence logic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Designed specifically for:</a:t>
            </a:r>
          </a:p>
          <a:p>
            <a:pPr marL="0" indent="0">
              <a:buNone/>
            </a:pPr>
            <a:r>
              <a:rPr lang="en-US" dirty="0"/>
              <a:t>- Doors</a:t>
            </a:r>
          </a:p>
          <a:p>
            <a:pPr marL="0" indent="0">
              <a:buNone/>
            </a:pPr>
            <a:r>
              <a:rPr lang="en-US" dirty="0"/>
              <a:t>- Windows</a:t>
            </a:r>
          </a:p>
          <a:p>
            <a:pPr marL="0" indent="0">
              <a:buNone/>
            </a:pPr>
            <a:r>
              <a:rPr lang="en-US" dirty="0"/>
              <a:t>- Magnetic reed sensors</a:t>
            </a:r>
          </a:p>
          <a:p>
            <a:pPr marL="0" indent="0">
              <a:buNone/>
            </a:pPr>
            <a:r>
              <a:rPr lang="en-US" dirty="0"/>
              <a:t>- Alarm contacts</a:t>
            </a:r>
          </a:p>
        </p:txBody>
      </p:sp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E67AA666-D8C3-D07D-0AC7-75165135CA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65308" y="1"/>
            <a:ext cx="3426691" cy="1061142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359F03BB-709C-9EA5-53C8-9DEEB13CDC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6199" y="2055812"/>
            <a:ext cx="4185927" cy="4802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1301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498"/>
    </mc:Choice>
    <mc:Fallback>
      <p:transition spd="slow" advTm="10498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29ABB-7443-D0C2-79F1-66927CEE1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A2138C-CC84-8C1E-3DC8-3708BB52F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M4 – Relay Module (2 DIN Units)</a:t>
            </a:r>
            <a:endParaRPr lang="en-US" u="sng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E91370B-C20C-3EF5-E1C2-555F14E18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/>
              <a:t>M4 module</a:t>
            </a:r>
            <a:r>
              <a:rPr lang="en-US" dirty="0"/>
              <a:t> provides compact relay-based outputs.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b="1" dirty="0"/>
              <a:t>Features: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- 6 electromechanical relays</a:t>
            </a:r>
          </a:p>
          <a:p>
            <a:pPr marL="0" indent="0">
              <a:buNone/>
            </a:pPr>
            <a:r>
              <a:rPr lang="en-US" dirty="0"/>
              <a:t>- Suitable for:</a:t>
            </a:r>
          </a:p>
          <a:p>
            <a:pPr marL="0" indent="0">
              <a:buNone/>
            </a:pPr>
            <a:r>
              <a:rPr lang="en-US" dirty="0"/>
              <a:t>  - Lights</a:t>
            </a:r>
          </a:p>
          <a:p>
            <a:pPr marL="0" indent="0">
              <a:buNone/>
            </a:pPr>
            <a:r>
              <a:rPr lang="en-US" dirty="0"/>
              <a:t>  - Small loads</a:t>
            </a:r>
          </a:p>
          <a:p>
            <a:pPr marL="0" indent="0">
              <a:buNone/>
            </a:pPr>
            <a:r>
              <a:rPr lang="en-US" dirty="0"/>
              <a:t>  - Auxiliary actuators</a:t>
            </a:r>
          </a:p>
          <a:p>
            <a:pPr>
              <a:buFontTx/>
              <a:buChar char="-"/>
            </a:pPr>
            <a:r>
              <a:rPr lang="en-US" dirty="0"/>
              <a:t>Logical grouping for room-based automation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/>
              <a:t>I2C addressable by dip switch on left side for each module</a:t>
            </a:r>
          </a:p>
          <a:p>
            <a:pPr>
              <a:buFontTx/>
              <a:buChar char="-"/>
            </a:pPr>
            <a:endParaRPr lang="en-US" dirty="0"/>
          </a:p>
        </p:txBody>
      </p:sp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D1911FD5-DDB1-7B31-928F-1F1FC68B4C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65308" y="1"/>
            <a:ext cx="3426691" cy="1061142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48A3C021-6583-7188-7A6D-48C3F84967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422" y="2055812"/>
            <a:ext cx="4471409" cy="4802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6638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395"/>
    </mc:Choice>
    <mc:Fallback>
      <p:transition spd="slow" advTm="8395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EF7FD-B773-E298-4B16-E4315034A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F02F6E8-A23D-1403-B46C-BFED5436E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M5 – Relay Module (4 DIN Units)</a:t>
            </a:r>
            <a:endParaRPr lang="en-US" u="sng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F053B7A-4DD0-7696-4FC6-6ABB2515C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/>
              <a:t>M5 module</a:t>
            </a:r>
            <a:r>
              <a:rPr lang="en-US" dirty="0"/>
              <a:t> provides compact relay-based outputs.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b="1" dirty="0"/>
              <a:t>Features: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- 12 electromechanical relays</a:t>
            </a:r>
          </a:p>
          <a:p>
            <a:pPr marL="0" indent="0">
              <a:buNone/>
            </a:pPr>
            <a:r>
              <a:rPr lang="en-US" dirty="0"/>
              <a:t>- Suitable for:</a:t>
            </a:r>
          </a:p>
          <a:p>
            <a:pPr marL="0" indent="0">
              <a:buNone/>
            </a:pPr>
            <a:r>
              <a:rPr lang="en-US" dirty="0"/>
              <a:t>  - Lights</a:t>
            </a:r>
          </a:p>
          <a:p>
            <a:pPr marL="0" indent="0">
              <a:buNone/>
            </a:pPr>
            <a:r>
              <a:rPr lang="en-US" dirty="0"/>
              <a:t>  - Small loads</a:t>
            </a:r>
          </a:p>
          <a:p>
            <a:pPr marL="0" indent="0">
              <a:buNone/>
            </a:pPr>
            <a:r>
              <a:rPr lang="en-US" dirty="0"/>
              <a:t>  - Auxiliary actuators</a:t>
            </a:r>
          </a:p>
          <a:p>
            <a:pPr>
              <a:buFontTx/>
              <a:buChar char="-"/>
            </a:pPr>
            <a:r>
              <a:rPr lang="en-US" dirty="0"/>
              <a:t>Logical grouping for room-based automation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/>
              <a:t>I2C addressable by dip switch on left side for each module</a:t>
            </a:r>
          </a:p>
          <a:p>
            <a:pPr>
              <a:buFontTx/>
              <a:buChar char="-"/>
            </a:pPr>
            <a:endParaRPr lang="en-US" dirty="0"/>
          </a:p>
        </p:txBody>
      </p:sp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B1092AA4-69E1-36F8-A611-391AFA7FD5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65308" y="1"/>
            <a:ext cx="3426691" cy="1061142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3C7978E3-B1CD-AB90-DE4C-E502B2B947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2807" y="2055812"/>
            <a:ext cx="4856021" cy="4718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6314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969"/>
    </mc:Choice>
    <mc:Fallback>
      <p:transition spd="slow" advTm="7969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83AB6-6984-43B3-39A9-C809AFAE7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6D7451-1085-0252-F1AC-3F0D9B65D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M6 – Energy meter (4 DIN Units)</a:t>
            </a:r>
            <a:endParaRPr lang="en-US" u="sng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D65D3AB-4EA1-AEBB-F671-5408D6B48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/>
              <a:t>M6 module</a:t>
            </a:r>
            <a:r>
              <a:rPr lang="en-US" dirty="0"/>
              <a:t> provides compact current reading.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b="1" dirty="0"/>
              <a:t>Features:</a:t>
            </a:r>
            <a:endParaRPr lang="en-US" dirty="0"/>
          </a:p>
          <a:p>
            <a:pPr marL="0" indent="0">
              <a:buNone/>
            </a:pPr>
            <a:r>
              <a:rPr lang="it-IT" dirty="0"/>
              <a:t>- 10-channel </a:t>
            </a:r>
            <a:r>
              <a:rPr lang="it-IT" dirty="0" err="1"/>
              <a:t>current</a:t>
            </a:r>
            <a:r>
              <a:rPr lang="it-IT" dirty="0"/>
              <a:t> monitoring </a:t>
            </a:r>
          </a:p>
          <a:p>
            <a:pPr>
              <a:buFontTx/>
              <a:buChar char="-"/>
            </a:pPr>
            <a:r>
              <a:rPr lang="en-US" dirty="0"/>
              <a:t>Main Voltage reading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I2C addressable by dip switch on left side for each module</a:t>
            </a:r>
          </a:p>
          <a:p>
            <a:pPr>
              <a:buFontTx/>
              <a:buChar char="-"/>
            </a:pPr>
            <a:endParaRPr lang="en-US" dirty="0"/>
          </a:p>
        </p:txBody>
      </p:sp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C2A8CA6A-AC30-1CB2-1AC8-2C70FA6161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65308" y="1"/>
            <a:ext cx="3426691" cy="1061142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168C758A-15E9-ADFE-871F-F6C9268914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600" y="1690688"/>
            <a:ext cx="5004300" cy="4873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4168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22"/>
    </mc:Choice>
    <mc:Fallback>
      <p:transition spd="slow" advTm="7022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132B0-71D3-7CCC-0437-53ECFD825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11F9FDD-C603-E6E1-8F78-DA9E02B71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M7 – Output module (2 DIN Units)</a:t>
            </a:r>
            <a:endParaRPr lang="en-US" u="sng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6E8D406-760B-797A-35D6-30C7E35CB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/>
              <a:t>M7 module</a:t>
            </a:r>
            <a:r>
              <a:rPr lang="en-US" dirty="0"/>
              <a:t> provides compact output possibilities.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b="1" dirty="0"/>
              <a:t>Features:</a:t>
            </a:r>
            <a:endParaRPr lang="en-US" dirty="0"/>
          </a:p>
          <a:p>
            <a:pPr>
              <a:buFontTx/>
              <a:buChar char="-"/>
            </a:pPr>
            <a:r>
              <a:rPr lang="it-IT" dirty="0"/>
              <a:t>16 output </a:t>
            </a:r>
            <a:r>
              <a:rPr lang="it-IT" dirty="0" err="1"/>
              <a:t>channels</a:t>
            </a:r>
            <a:r>
              <a:rPr lang="it-IT" dirty="0"/>
              <a:t> low </a:t>
            </a:r>
            <a:r>
              <a:rPr lang="it-IT" dirty="0" err="1"/>
              <a:t>voltage</a:t>
            </a:r>
            <a:r>
              <a:rPr lang="it-IT" dirty="0"/>
              <a:t> </a:t>
            </a:r>
          </a:p>
          <a:p>
            <a:pPr>
              <a:buFontTx/>
              <a:buChar char="-"/>
            </a:pPr>
            <a:endParaRPr lang="it-IT" dirty="0"/>
          </a:p>
          <a:p>
            <a:pPr>
              <a:buFontTx/>
              <a:buChar char="-"/>
            </a:pPr>
            <a:endParaRPr lang="it-IT" dirty="0"/>
          </a:p>
          <a:p>
            <a:pPr>
              <a:buFontTx/>
              <a:buChar char="-"/>
            </a:pPr>
            <a:endParaRPr lang="it-IT" dirty="0"/>
          </a:p>
          <a:p>
            <a:pPr>
              <a:buFontTx/>
              <a:buChar char="-"/>
            </a:pPr>
            <a:endParaRPr lang="it-IT" dirty="0"/>
          </a:p>
          <a:p>
            <a:pPr>
              <a:buFontTx/>
              <a:buChar char="-"/>
            </a:pPr>
            <a:endParaRPr lang="it-IT" dirty="0"/>
          </a:p>
          <a:p>
            <a:pPr marL="0" indent="0">
              <a:buNone/>
            </a:pPr>
            <a:r>
              <a:rPr lang="en-US" dirty="0"/>
              <a:t>I2C addressable by dip switch on left side for each module</a:t>
            </a:r>
          </a:p>
          <a:p>
            <a:pPr>
              <a:buFontTx/>
              <a:buChar char="-"/>
            </a:pPr>
            <a:endParaRPr lang="it-IT" dirty="0"/>
          </a:p>
        </p:txBody>
      </p:sp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E231CFF9-2403-AF31-3EDE-EE8C3B3AFA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65308" y="1"/>
            <a:ext cx="3426691" cy="1061142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B8D338CF-9B7B-9A1C-B11A-361F014FDA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9580" y="1982660"/>
            <a:ext cx="4171112" cy="4802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749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627"/>
    </mc:Choice>
    <mc:Fallback>
      <p:transition spd="slow" advTm="6627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AF252-33C0-B824-995F-D70ED0D7A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D01047-7F79-274A-A220-630AEB749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M8 – Input module (2 DIN Units)</a:t>
            </a:r>
            <a:endParaRPr lang="en-US" u="sng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461FF0-901F-272A-05CF-A0EF25759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/>
              <a:t>M8 module</a:t>
            </a:r>
            <a:r>
              <a:rPr lang="en-US" dirty="0"/>
              <a:t> provides compact input possibilities.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b="1" dirty="0"/>
              <a:t>Features:</a:t>
            </a:r>
            <a:endParaRPr lang="en-US" dirty="0"/>
          </a:p>
          <a:p>
            <a:pPr>
              <a:buFontTx/>
              <a:buChar char="-"/>
            </a:pPr>
            <a:r>
              <a:rPr lang="it-IT" dirty="0"/>
              <a:t>16 input </a:t>
            </a:r>
            <a:r>
              <a:rPr lang="it-IT" dirty="0" err="1"/>
              <a:t>channels</a:t>
            </a:r>
            <a:r>
              <a:rPr lang="it-IT" dirty="0"/>
              <a:t> low </a:t>
            </a:r>
            <a:r>
              <a:rPr lang="it-IT" dirty="0" err="1"/>
              <a:t>voltage</a:t>
            </a:r>
            <a:r>
              <a:rPr lang="it-IT" dirty="0"/>
              <a:t> </a:t>
            </a:r>
          </a:p>
          <a:p>
            <a:pPr>
              <a:buFontTx/>
              <a:buChar char="-"/>
            </a:pPr>
            <a:endParaRPr lang="it-IT" dirty="0"/>
          </a:p>
          <a:p>
            <a:pPr>
              <a:buFontTx/>
              <a:buChar char="-"/>
            </a:pPr>
            <a:endParaRPr lang="it-IT" dirty="0"/>
          </a:p>
          <a:p>
            <a:pPr>
              <a:buFontTx/>
              <a:buChar char="-"/>
            </a:pPr>
            <a:endParaRPr lang="it-IT" dirty="0"/>
          </a:p>
          <a:p>
            <a:pPr>
              <a:buFontTx/>
              <a:buChar char="-"/>
            </a:pPr>
            <a:endParaRPr lang="it-IT" dirty="0"/>
          </a:p>
          <a:p>
            <a:pPr>
              <a:buFontTx/>
              <a:buChar char="-"/>
            </a:pPr>
            <a:endParaRPr lang="it-IT" dirty="0"/>
          </a:p>
          <a:p>
            <a:pPr marL="0" indent="0">
              <a:buNone/>
            </a:pPr>
            <a:r>
              <a:rPr lang="en-US" dirty="0"/>
              <a:t>I2C addressable by dip switch on left side for each module</a:t>
            </a:r>
          </a:p>
          <a:p>
            <a:pPr>
              <a:buFontTx/>
              <a:buChar char="-"/>
            </a:pPr>
            <a:endParaRPr lang="it-IT" dirty="0"/>
          </a:p>
        </p:txBody>
      </p:sp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B312C204-C7B2-3ED7-524F-A0773643C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65308" y="1"/>
            <a:ext cx="3426691" cy="1061142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2EA60E4A-BE8B-2B7C-FAEB-BF3AF553A0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1850" y="1825625"/>
            <a:ext cx="4350149" cy="4802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2995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578"/>
    </mc:Choice>
    <mc:Fallback>
      <p:transition spd="slow" advTm="5578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D1F09-3D22-9D4B-2E62-2B547A6EB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2C29DFB-E57D-7122-2C16-B7B94EA84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M9 – Sprinkler module (4 DIN Units)</a:t>
            </a:r>
            <a:endParaRPr lang="en-US" u="sng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514FC0-625F-A15E-BF99-055F225BB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/>
              <a:t>M9 module</a:t>
            </a:r>
            <a:r>
              <a:rPr lang="en-US" dirty="0"/>
              <a:t> provides sprinkler possibilities.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b="1" dirty="0"/>
              <a:t>Features:</a:t>
            </a:r>
            <a:endParaRPr lang="en-US" dirty="0"/>
          </a:p>
          <a:p>
            <a:pPr>
              <a:buFontTx/>
              <a:buChar char="-"/>
            </a:pPr>
            <a:r>
              <a:rPr lang="it-IT" dirty="0"/>
              <a:t>8 sprinkler 24VAC </a:t>
            </a:r>
            <a:r>
              <a:rPr lang="it-IT" dirty="0" err="1"/>
              <a:t>valves</a:t>
            </a:r>
            <a:r>
              <a:rPr lang="it-IT" dirty="0"/>
              <a:t> output</a:t>
            </a:r>
          </a:p>
          <a:p>
            <a:pPr>
              <a:buFontTx/>
              <a:buChar char="-"/>
            </a:pPr>
            <a:r>
              <a:rPr lang="it-IT" dirty="0"/>
              <a:t>8 </a:t>
            </a:r>
            <a:r>
              <a:rPr lang="it-IT" dirty="0" err="1"/>
              <a:t>manual</a:t>
            </a:r>
            <a:r>
              <a:rPr lang="it-IT" dirty="0"/>
              <a:t> </a:t>
            </a:r>
            <a:r>
              <a:rPr lang="it-IT" dirty="0" err="1"/>
              <a:t>commands</a:t>
            </a:r>
            <a:r>
              <a:rPr lang="it-IT" dirty="0"/>
              <a:t> </a:t>
            </a:r>
          </a:p>
          <a:p>
            <a:pPr>
              <a:buFontTx/>
              <a:buChar char="-"/>
            </a:pPr>
            <a:endParaRPr lang="it-IT" dirty="0"/>
          </a:p>
          <a:p>
            <a:pPr>
              <a:buFontTx/>
              <a:buChar char="-"/>
            </a:pPr>
            <a:endParaRPr lang="it-IT" dirty="0"/>
          </a:p>
          <a:p>
            <a:pPr>
              <a:buFontTx/>
              <a:buChar char="-"/>
            </a:pPr>
            <a:endParaRPr lang="it-IT" dirty="0"/>
          </a:p>
          <a:p>
            <a:pPr>
              <a:buFontTx/>
              <a:buChar char="-"/>
            </a:pPr>
            <a:endParaRPr lang="it-IT" dirty="0"/>
          </a:p>
          <a:p>
            <a:pPr marL="0" indent="0">
              <a:buNone/>
            </a:pPr>
            <a:r>
              <a:rPr lang="en-US" dirty="0"/>
              <a:t>I2C addressable by dip switch on left side for each module</a:t>
            </a:r>
          </a:p>
          <a:p>
            <a:pPr>
              <a:buFontTx/>
              <a:buChar char="-"/>
            </a:pPr>
            <a:endParaRPr lang="it-IT" dirty="0"/>
          </a:p>
        </p:txBody>
      </p:sp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BCFE2F06-0C4E-64BB-AC8E-2089DE887F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65308" y="1"/>
            <a:ext cx="3426691" cy="1061142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85E80F60-2F2E-493F-F589-34C9A8E46A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0369" y="1564258"/>
            <a:ext cx="5361631" cy="5229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4508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685"/>
    </mc:Choice>
    <mc:Fallback>
      <p:transition spd="slow" advTm="8685"/>
    </mc:Fallback>
  </mc:AlternateContent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985</Words>
  <Application>Microsoft Office PowerPoint</Application>
  <PresentationFormat>Widescreen</PresentationFormat>
  <Paragraphs>221</Paragraphs>
  <Slides>16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Roboto</vt:lpstr>
      <vt:lpstr>Wingdings</vt:lpstr>
      <vt:lpstr>Tema di Office</vt:lpstr>
      <vt:lpstr>Presentazione standard di PowerPoint</vt:lpstr>
      <vt:lpstr>The DOMIX Manifesto</vt:lpstr>
      <vt:lpstr>The DOMIX Manifesto</vt:lpstr>
      <vt:lpstr>Modular System Overview</vt:lpstr>
      <vt:lpstr>Core Communication Concept</vt:lpstr>
      <vt:lpstr>I2C address as first decision</vt:lpstr>
      <vt:lpstr>DIN Rail Form Factor Strategy</vt:lpstr>
      <vt:lpstr>M1 – Core Module (4 DIN Units)</vt:lpstr>
      <vt:lpstr>M2 – I/O Module (2 DIN Units)</vt:lpstr>
      <vt:lpstr>M3 – Contact Module (2 DIN Units)</vt:lpstr>
      <vt:lpstr>M4 – Relay Module (2 DIN Units)</vt:lpstr>
      <vt:lpstr>M5 – Relay Module (4 DIN Units)</vt:lpstr>
      <vt:lpstr>M6 – Energy meter (4 DIN Units)</vt:lpstr>
      <vt:lpstr>M7 – Output module (2 DIN Units)</vt:lpstr>
      <vt:lpstr>M8 – Input module (2 DIN Units)</vt:lpstr>
      <vt:lpstr>M9 – Sprinkler module (4 DIN Units)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Utente</dc:creator>
  <cp:lastModifiedBy>Utente</cp:lastModifiedBy>
  <cp:revision>19</cp:revision>
  <dcterms:created xsi:type="dcterms:W3CDTF">2026-01-24T15:26:57Z</dcterms:created>
  <dcterms:modified xsi:type="dcterms:W3CDTF">2026-02-15T15:28:11Z</dcterms:modified>
</cp:coreProperties>
</file>